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1597819"/>
            <a:ext cx="7772400" cy="110252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3305176"/>
            <a:ext cx="7772401" cy="1021558"/>
          </a:xfrm>
          <a:prstGeom prst="rect">
            <a:avLst/>
          </a:prstGeom>
        </p:spPr>
        <p:txBody>
          <a:bodyPr anchor="t"/>
          <a:lstStyle>
            <a:lvl1pPr algn="l">
              <a:defRPr b="1"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180033"/>
            <a:ext cx="7772401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200150"/>
            <a:ext cx="4038600" cy="3394474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59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151333"/>
            <a:ext cx="4040188" cy="47982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b="1" sz="1800"/>
            </a:lvl1pPr>
            <a:lvl2pPr marL="0" indent="0">
              <a:spcBef>
                <a:spcPts val="400"/>
              </a:spcBef>
              <a:buSzTx/>
              <a:buFontTx/>
              <a:buNone/>
              <a:defRPr b="1" sz="1800"/>
            </a:lvl2pPr>
            <a:lvl3pPr marL="0" indent="0">
              <a:spcBef>
                <a:spcPts val="400"/>
              </a:spcBef>
              <a:buSzTx/>
              <a:buFontTx/>
              <a:buNone/>
              <a:defRPr b="1" sz="1800"/>
            </a:lvl3pPr>
            <a:lvl4pPr marL="0" indent="0">
              <a:spcBef>
                <a:spcPts val="400"/>
              </a:spcBef>
              <a:buSzTx/>
              <a:buFontTx/>
              <a:buNone/>
              <a:defRPr b="1" sz="1800"/>
            </a:lvl4pPr>
            <a:lvl5pPr marL="0" indent="0">
              <a:spcBef>
                <a:spcPts val="400"/>
              </a:spcBef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6" y="1151333"/>
            <a:ext cx="4041777" cy="47982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1" y="204785"/>
            <a:ext cx="3008315" cy="871540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076326"/>
            <a:ext cx="3008317" cy="35182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459581"/>
            <a:ext cx="5486402" cy="3086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4025503"/>
            <a:ext cx="5486402" cy="60364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66799" y="4801229"/>
            <a:ext cx="220002" cy="20591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34784" marR="0" indent="-391884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577338" marR="0" indent="-548638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920238" marR="0" indent="-548638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263138" marR="0" indent="-548638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606038" marR="0" indent="-548638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2948938" marR="0" indent="-548638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3291840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6000">
                <a:solidFill>
                  <a:srgbClr val="FFFFFF"/>
                </a:solidFill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AI 109 </a:t>
            </a:r>
          </a:p>
          <a:p>
            <a:pPr marL="0" indent="0" algn="ctr">
              <a:spcBef>
                <a:spcPts val="0"/>
              </a:spcBef>
              <a:buSzTx/>
              <a:buNone/>
              <a:defRPr sz="6000">
                <a:solidFill>
                  <a:srgbClr val="FFFFFF"/>
                </a:solidFill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May 1, 2026</a:t>
            </a:r>
          </a:p>
          <a:p>
            <a:pPr marL="0" indent="0" algn="ctr">
              <a:spcBef>
                <a:spcPts val="0"/>
              </a:spcBef>
              <a:buSzTx/>
              <a:buNone/>
              <a:defRPr sz="6000">
                <a:solidFill>
                  <a:srgbClr val="FFFFFF"/>
                </a:solidFill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Ava Watson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BB72FA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 w="9525">
            <a:solidFill>
              <a:srgbClr val="7D60A0"/>
            </a:solidFill>
            <a:round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76200" tIns="76200" rIns="76200" bIns="76200"/>
          <a:lstStyle>
            <a:lvl1pPr algn="l" defTabSz="457200">
              <a:defRPr sz="35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Career Overview</a:t>
            </a:r>
          </a:p>
        </p:txBody>
      </p:sp>
      <p:sp>
        <p:nvSpPr>
          <p:cNvPr id="97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 w="9525">
            <a:solidFill>
              <a:srgbClr val="7D60A0"/>
            </a:solidFill>
            <a:round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0" indent="0" defTabSz="457200">
              <a:spcBef>
                <a:spcPts val="0"/>
              </a:spcBef>
              <a:buSzTx/>
              <a:buNone/>
              <a:defRPr sz="28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What Is a Therapist?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z="28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-A Licensed mental health professional who helps individuals manage emotions, behavior, and relationships 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z="28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-Includes providing counseling and treatment plans 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z="28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-Works in private practice, schools, hospitals, or clinics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/>
          <a:p>
            <a:pPr/>
            <a:r>
              <a:t> </a:t>
            </a:r>
            <a:r>
              <a:rPr sz="4700">
                <a:latin typeface="Savoye LET Plain:1.0"/>
                <a:ea typeface="Savoye LET Plain:1.0"/>
                <a:cs typeface="Savoye LET Plain:1.0"/>
                <a:sym typeface="Savoye LET Plain:1.0"/>
              </a:rPr>
              <a:t>Education &amp; Skills Required</a:t>
            </a:r>
          </a:p>
        </p:txBody>
      </p:sp>
      <p:sp>
        <p:nvSpPr>
          <p:cNvPr id="100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Education: Bachelor’s degree (Psychology or related field) Master’s degree in counseling, social work, or psychology State licensure + supervised clinical hours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Key Skills: Empathy, Active listening, Communication, Critical thinking, Confidentiality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58DCFA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1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AI Disruption in Therapy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2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AI chatbots providing 24/7 mental health support </a:t>
            </a:r>
          </a:p>
          <a:p>
            <a:pPr marL="0" indent="0">
              <a:buSzTx/>
              <a:buNone/>
              <a:defRPr sz="32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Automated mood-tracking apps </a:t>
            </a:r>
          </a:p>
          <a:p>
            <a:pPr marL="0" indent="0">
              <a:buSzTx/>
              <a:buNone/>
              <a:defRPr sz="32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AI-assisted diagnostic tools </a:t>
            </a:r>
          </a:p>
          <a:p>
            <a:pPr marL="0" indent="0">
              <a:buSzTx/>
              <a:buNone/>
              <a:defRPr sz="32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Growth of Telehealth and virtual therapy Impact: Technology is changing how therapy is delivered.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9038FA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6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Risks of AI in This Career</a:t>
            </a:r>
          </a:p>
        </p:txBody>
      </p:sp>
      <p:sp>
        <p:nvSpPr>
          <p:cNvPr id="106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-</a:t>
            </a:r>
            <a:r>
              <a:rPr sz="3400">
                <a:latin typeface="Savoye LET Plain:1.0"/>
                <a:ea typeface="Savoye LET Plain:1.0"/>
                <a:cs typeface="Savoye LET Plain:1.0"/>
                <a:sym typeface="Savoye LET Plain:1.0"/>
              </a:rPr>
              <a:t>Privacy and data security concerns </a:t>
            </a:r>
            <a:endParaRPr sz="3400">
              <a:latin typeface="Savoye LET Plain:1.0"/>
              <a:ea typeface="Savoye LET Plain:1.0"/>
              <a:cs typeface="Savoye LET Plain:1.0"/>
              <a:sym typeface="Savoye LET Plain:1.0"/>
            </a:endParaRP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-Risk of over-reliance on technology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-AI lacks true empathy and human connection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-Potential bias in algorithms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-Therapists must use AI ethically and responsibly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A82CF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2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Benefits of AI for Therapists</a:t>
            </a:r>
          </a:p>
        </p:txBody>
      </p:sp>
      <p:sp>
        <p:nvSpPr>
          <p:cNvPr id="109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0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Reduces paperwork and administrative tasks </a:t>
            </a:r>
          </a:p>
          <a:p>
            <a:pPr marL="0" indent="0">
              <a:buSzTx/>
              <a:buNone/>
              <a:defRPr sz="30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Helps track client progress </a:t>
            </a:r>
          </a:p>
          <a:p>
            <a:pPr marL="0" indent="0">
              <a:buSzTx/>
              <a:buNone/>
              <a:defRPr sz="30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Supports clients between sessions </a:t>
            </a:r>
          </a:p>
          <a:p>
            <a:pPr marL="0" indent="0">
              <a:buSzTx/>
              <a:buNone/>
              <a:defRPr sz="30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Expands access to care </a:t>
            </a:r>
          </a:p>
          <a:p>
            <a:pPr marL="0" indent="0">
              <a:buSzTx/>
              <a:buNone/>
              <a:defRPr sz="30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Reduces burnout, AI acts as a support tool — not a replacement.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ABC5A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7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How to Gain an Advantage Using AI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3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Practice mock therapy sessions with AI </a:t>
            </a:r>
          </a:p>
          <a:p>
            <a:pPr marL="0" indent="0">
              <a:buSzTx/>
              <a:buNone/>
              <a:defRPr sz="33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Use AI to summarize research articles </a:t>
            </a:r>
          </a:p>
          <a:p>
            <a:pPr marL="0" indent="0">
              <a:buSzTx/>
              <a:buNone/>
              <a:defRPr sz="33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Learn about digital mental health tools </a:t>
            </a:r>
          </a:p>
          <a:p>
            <a:pPr marL="0" indent="0">
              <a:buSzTx/>
              <a:buNone/>
              <a:defRPr sz="33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Build strong tech literacy + ethical awareness </a:t>
            </a:r>
          </a:p>
          <a:p>
            <a:pPr marL="0" indent="0">
              <a:buSzTx/>
              <a:buNone/>
              <a:defRPr sz="33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Future therapists who understand AI will stand 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AEFA92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5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My Action Plan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Take a psychology or counseling course this year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Practice weekly AI-based case simulations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Research digital mental health platforms and ethics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Gain experience in peer counseling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DBA4FA"/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4500">
                <a:latin typeface="Savoye LET Plain:1.0"/>
                <a:ea typeface="Savoye LET Plain:1.0"/>
                <a:cs typeface="Savoye LET Plain:1.0"/>
                <a:sym typeface="Savoye LET Plain:1.0"/>
              </a:defRPr>
            </a:lvl1pPr>
          </a:lstStyle>
          <a:p>
            <a:pPr/>
            <a:r>
              <a:t>Main Takeaway</a:t>
            </a:r>
          </a:p>
        </p:txBody>
      </p:sp>
      <p:sp>
        <p:nvSpPr>
          <p:cNvPr id="118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AI will not replace therapists.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Human empathy and connection remain essential. </a:t>
            </a:r>
          </a:p>
          <a:p>
            <a:pPr marL="0" indent="0">
              <a:buSzTx/>
              <a:buNone/>
              <a:defRPr sz="3400">
                <a:latin typeface="Savoye LET Plain:1.0"/>
                <a:ea typeface="Savoye LET Plain:1.0"/>
                <a:cs typeface="Savoye LET Plain:1.0"/>
                <a:sym typeface="Savoye LET Plain:1.0"/>
              </a:defRPr>
            </a:pPr>
            <a:r>
              <a:t>However, therapists who learn to use AI responsibly will have a strong advantage in the future.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