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9144000" cy="51435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j-lt"/>
        <a:ea typeface="+mj-ea"/>
        <a:cs typeface="+mj-cs"/>
        <a:sym typeface="Calibri"/>
      </a:defRPr>
    </a:lvl1pPr>
    <a:lvl2pPr indent="228600" defTabSz="457200" latinLnBrk="0">
      <a:defRPr sz="1200">
        <a:latin typeface="+mj-lt"/>
        <a:ea typeface="+mj-ea"/>
        <a:cs typeface="+mj-cs"/>
        <a:sym typeface="Calibri"/>
      </a:defRPr>
    </a:lvl2pPr>
    <a:lvl3pPr indent="457200" defTabSz="457200" latinLnBrk="0">
      <a:defRPr sz="1200">
        <a:latin typeface="+mj-lt"/>
        <a:ea typeface="+mj-ea"/>
        <a:cs typeface="+mj-cs"/>
        <a:sym typeface="Calibri"/>
      </a:defRPr>
    </a:lvl3pPr>
    <a:lvl4pPr indent="685800" defTabSz="457200" latinLnBrk="0">
      <a:defRPr sz="1200">
        <a:latin typeface="+mj-lt"/>
        <a:ea typeface="+mj-ea"/>
        <a:cs typeface="+mj-cs"/>
        <a:sym typeface="Calibri"/>
      </a:defRPr>
    </a:lvl4pPr>
    <a:lvl5pPr indent="914400" defTabSz="457200" latinLnBrk="0">
      <a:defRPr sz="1200">
        <a:latin typeface="+mj-lt"/>
        <a:ea typeface="+mj-ea"/>
        <a:cs typeface="+mj-cs"/>
        <a:sym typeface="Calibri"/>
      </a:defRPr>
    </a:lvl5pPr>
    <a:lvl6pPr indent="1143000" defTabSz="457200" latinLnBrk="0">
      <a:defRPr sz="1200">
        <a:latin typeface="+mj-lt"/>
        <a:ea typeface="+mj-ea"/>
        <a:cs typeface="+mj-cs"/>
        <a:sym typeface="Calibri"/>
      </a:defRPr>
    </a:lvl6pPr>
    <a:lvl7pPr indent="1371600" defTabSz="457200" latinLnBrk="0">
      <a:defRPr sz="1200">
        <a:latin typeface="+mj-lt"/>
        <a:ea typeface="+mj-ea"/>
        <a:cs typeface="+mj-cs"/>
        <a:sym typeface="Calibri"/>
      </a:defRPr>
    </a:lvl7pPr>
    <a:lvl8pPr indent="1600200" defTabSz="457200" latinLnBrk="0">
      <a:defRPr sz="1200">
        <a:latin typeface="+mj-lt"/>
        <a:ea typeface="+mj-ea"/>
        <a:cs typeface="+mj-cs"/>
        <a:sym typeface="Calibri"/>
      </a:defRPr>
    </a:lvl8pPr>
    <a:lvl9pPr indent="1828800" defTabSz="4572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1597819"/>
            <a:ext cx="7772400" cy="1102522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2914650"/>
            <a:ext cx="6400800" cy="131445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3305176"/>
            <a:ext cx="7772401" cy="1021559"/>
          </a:xfrm>
          <a:prstGeom prst="rect">
            <a:avLst/>
          </a:prstGeom>
        </p:spPr>
        <p:txBody>
          <a:bodyPr anchor="t"/>
          <a:lstStyle>
            <a:lvl1pPr algn="l">
              <a:defRPr b="1" cap="all" sz="3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180033"/>
            <a:ext cx="7772401" cy="1125142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300"/>
              </a:spcBef>
              <a:buSzTx/>
              <a:buFontTx/>
              <a:buNone/>
              <a:defRPr sz="1500">
                <a:solidFill>
                  <a:srgbClr val="888888"/>
                </a:solidFill>
              </a:defRPr>
            </a:lvl1pPr>
            <a:lvl2pPr marL="0" indent="0">
              <a:spcBef>
                <a:spcPts val="300"/>
              </a:spcBef>
              <a:buSzTx/>
              <a:buFontTx/>
              <a:buNone/>
              <a:defRPr sz="1500">
                <a:solidFill>
                  <a:srgbClr val="888888"/>
                </a:solidFill>
              </a:defRPr>
            </a:lvl2pPr>
            <a:lvl3pPr marL="0" indent="0">
              <a:spcBef>
                <a:spcPts val="300"/>
              </a:spcBef>
              <a:buSzTx/>
              <a:buFontTx/>
              <a:buNone/>
              <a:defRPr sz="1500">
                <a:solidFill>
                  <a:srgbClr val="888888"/>
                </a:solidFill>
              </a:defRPr>
            </a:lvl3pPr>
            <a:lvl4pPr marL="0" indent="0">
              <a:spcBef>
                <a:spcPts val="300"/>
              </a:spcBef>
              <a:buSzTx/>
              <a:buFontTx/>
              <a:buNone/>
              <a:defRPr sz="1500">
                <a:solidFill>
                  <a:srgbClr val="888888"/>
                </a:solidFill>
              </a:defRPr>
            </a:lvl4pPr>
            <a:lvl5pPr marL="0" indent="0">
              <a:spcBef>
                <a:spcPts val="300"/>
              </a:spcBef>
              <a:buSzTx/>
              <a:buFontTx/>
              <a:buNone/>
              <a:defRPr sz="15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200150"/>
            <a:ext cx="4038600" cy="3394474"/>
          </a:xfrm>
          <a:prstGeom prst="rect">
            <a:avLst/>
          </a:prstGeom>
        </p:spPr>
        <p:txBody>
          <a:bodyPr/>
          <a:lstStyle>
            <a:lvl1pPr>
              <a:defRPr sz="2100"/>
            </a:lvl1pPr>
            <a:lvl2pPr marL="742950" indent="-400050">
              <a:defRPr sz="2100"/>
            </a:lvl2pPr>
            <a:lvl3pPr marL="1165860" indent="-480059">
              <a:defRPr sz="2100"/>
            </a:lvl3pPr>
            <a:lvl4pPr marL="1582615" indent="-553915">
              <a:defRPr sz="2100"/>
            </a:lvl4pPr>
            <a:lvl5pPr marL="1925515" indent="-553915">
              <a:defRPr sz="21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151333"/>
            <a:ext cx="4040188" cy="479825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b="1" sz="1800"/>
            </a:lvl1pPr>
            <a:lvl2pPr marL="0" indent="0">
              <a:spcBef>
                <a:spcPts val="400"/>
              </a:spcBef>
              <a:buSzTx/>
              <a:buFontTx/>
              <a:buNone/>
              <a:defRPr b="1" sz="1800"/>
            </a:lvl2pPr>
            <a:lvl3pPr marL="0" indent="0">
              <a:spcBef>
                <a:spcPts val="400"/>
              </a:spcBef>
              <a:buSzTx/>
              <a:buFontTx/>
              <a:buNone/>
              <a:defRPr b="1" sz="1800"/>
            </a:lvl3pPr>
            <a:lvl4pPr marL="0" indent="0">
              <a:spcBef>
                <a:spcPts val="400"/>
              </a:spcBef>
              <a:buSzTx/>
              <a:buFontTx/>
              <a:buNone/>
              <a:defRPr b="1" sz="1800"/>
            </a:lvl4pPr>
            <a:lvl5pPr marL="0" indent="0">
              <a:spcBef>
                <a:spcPts val="400"/>
              </a:spcBef>
              <a:buSzTx/>
              <a:buFontTx/>
              <a:buNone/>
              <a:defRPr b="1" sz="1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6" y="1151333"/>
            <a:ext cx="4041778" cy="479825"/>
          </a:xfrm>
          <a:prstGeom prst="rect">
            <a:avLst/>
          </a:prstGeom>
        </p:spPr>
        <p:txBody>
          <a:bodyPr anchor="b"/>
          <a:lstStyle/>
          <a:p>
            <a:pPr/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1" y="204785"/>
            <a:ext cx="3008316" cy="871541"/>
          </a:xfrm>
          <a:prstGeom prst="rect">
            <a:avLst/>
          </a:prstGeom>
        </p:spPr>
        <p:txBody>
          <a:bodyPr anchor="b"/>
          <a:lstStyle>
            <a:lvl1pPr algn="l">
              <a:defRPr b="1" sz="15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idx="1"/>
          </p:nvPr>
        </p:nvSpPr>
        <p:spPr>
          <a:xfrm>
            <a:off x="3575050" y="204788"/>
            <a:ext cx="5111750" cy="4389836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half" idx="21"/>
          </p:nvPr>
        </p:nvSpPr>
        <p:spPr>
          <a:xfrm>
            <a:off x="457199" y="1076326"/>
            <a:ext cx="3008317" cy="3518297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3600450"/>
            <a:ext cx="5486403" cy="425054"/>
          </a:xfrm>
          <a:prstGeom prst="rect">
            <a:avLst/>
          </a:prstGeom>
        </p:spPr>
        <p:txBody>
          <a:bodyPr anchor="b"/>
          <a:lstStyle>
            <a:lvl1pPr algn="l">
              <a:defRPr b="1" sz="15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459581"/>
            <a:ext cx="5486403" cy="30861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4025503"/>
            <a:ext cx="5486403" cy="60365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200"/>
              </a:spcBef>
              <a:buSzTx/>
              <a:buFontTx/>
              <a:buNone/>
              <a:defRPr sz="1000"/>
            </a:lvl1pPr>
            <a:lvl2pPr marL="0" indent="0">
              <a:spcBef>
                <a:spcPts val="200"/>
              </a:spcBef>
              <a:buSzTx/>
              <a:buFontTx/>
              <a:buNone/>
              <a:defRPr sz="1000"/>
            </a:lvl2pPr>
            <a:lvl3pPr marL="0" indent="0">
              <a:spcBef>
                <a:spcPts val="200"/>
              </a:spcBef>
              <a:buSzTx/>
              <a:buFontTx/>
              <a:buNone/>
              <a:defRPr sz="1000"/>
            </a:lvl3pPr>
            <a:lvl4pPr marL="0" indent="0">
              <a:spcBef>
                <a:spcPts val="200"/>
              </a:spcBef>
              <a:buSzTx/>
              <a:buFontTx/>
              <a:buNone/>
              <a:defRPr sz="1000"/>
            </a:lvl4pPr>
            <a:lvl5pPr marL="0" indent="0">
              <a:spcBef>
                <a:spcPts val="200"/>
              </a:spcBef>
              <a:buSzTx/>
              <a:buFontTx/>
              <a:buNone/>
              <a:defRPr sz="10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457200" y="205978"/>
            <a:ext cx="8229600" cy="857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457200" y="1200150"/>
            <a:ext cx="8229600" cy="33944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66801" y="4801230"/>
            <a:ext cx="220000" cy="205910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900">
                <a:solidFill>
                  <a:srgbClr val="888888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3429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3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0" marR="0" indent="0" algn="ctr" defTabSz="3429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3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0" marR="0" indent="0" algn="ctr" defTabSz="3429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3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0" marR="0" indent="0" algn="ctr" defTabSz="3429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3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0" marR="0" indent="0" algn="ctr" defTabSz="3429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3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0" marR="0" indent="0" algn="ctr" defTabSz="3429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3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0" marR="0" indent="0" algn="ctr" defTabSz="3429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3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0" marR="0" indent="0" algn="ctr" defTabSz="3429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3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0" marR="0" indent="0" algn="ctr" defTabSz="3429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3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titleStyle>
    <p:bodyStyle>
      <a:lvl1pPr marL="342900" marR="0" indent="-342900" algn="l" defTabSz="3429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34783" marR="0" indent="-391884" algn="l" defTabSz="3429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2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143000" marR="0" indent="-457200" algn="l" defTabSz="3429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577338" marR="0" indent="-548638" algn="l" defTabSz="3429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2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1920238" marR="0" indent="-548638" algn="l" defTabSz="3429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2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263138" marR="0" indent="-548638" algn="l" defTabSz="3429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2606038" marR="0" indent="-548638" algn="l" defTabSz="3429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2948938" marR="0" indent="-548638" algn="l" defTabSz="3429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3291840" marR="0" indent="-548638" algn="l" defTabSz="3429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Content Placeholder 2"/>
          <p:cNvSpPr txBox="1"/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/>
          <a:lstStyle/>
          <a:p>
            <a:pPr marL="0" indent="0" algn="ctr">
              <a:spcBef>
                <a:spcPts val="0"/>
              </a:spcBef>
              <a:buSzTx/>
              <a:buNone/>
              <a:defRPr sz="6000">
                <a:solidFill>
                  <a:srgbClr val="FFFFFF"/>
                </a:solidFill>
                <a:latin typeface="Savoye LET Plain:1.0"/>
                <a:ea typeface="Savoye LET Plain:1.0"/>
                <a:cs typeface="Savoye LET Plain:1.0"/>
                <a:sym typeface="Savoye LET Plain:1.0"/>
              </a:defRPr>
            </a:pPr>
            <a:r>
              <a:t>AI 109 </a:t>
            </a:r>
          </a:p>
          <a:p>
            <a:pPr marL="0" indent="0" algn="ctr">
              <a:spcBef>
                <a:spcPts val="0"/>
              </a:spcBef>
              <a:buSzTx/>
              <a:buNone/>
              <a:defRPr sz="6000">
                <a:solidFill>
                  <a:srgbClr val="FFFFFF"/>
                </a:solidFill>
                <a:latin typeface="Savoye LET Plain:1.0"/>
                <a:ea typeface="Savoye LET Plain:1.0"/>
                <a:cs typeface="Savoye LET Plain:1.0"/>
                <a:sym typeface="Savoye LET Plain:1.0"/>
              </a:defRPr>
            </a:pPr>
            <a:r>
              <a:t>May 1, 2026</a:t>
            </a:r>
          </a:p>
          <a:p>
            <a:pPr marL="0" indent="0" algn="ctr">
              <a:spcBef>
                <a:spcPts val="0"/>
              </a:spcBef>
              <a:buSzTx/>
              <a:buNone/>
              <a:defRPr sz="6000">
                <a:solidFill>
                  <a:srgbClr val="FFFFFF"/>
                </a:solidFill>
                <a:latin typeface="Savoye LET Plain:1.0"/>
                <a:ea typeface="Savoye LET Plain:1.0"/>
                <a:cs typeface="Savoye LET Plain:1.0"/>
                <a:sym typeface="Savoye LET Plain:1.0"/>
              </a:defRPr>
            </a:pPr>
            <a:r>
              <a:t>Ava Watson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gradFill flip="none" rotWithShape="1">
          <a:gsLst>
            <a:gs pos="0">
              <a:srgbClr val="BB72FA"/>
            </a:gs>
            <a:gs pos="100000">
              <a:schemeClr val="accent1">
                <a:hueOff val="418253"/>
                <a:satOff val="54545"/>
                <a:lumOff val="42493"/>
              </a:schemeClr>
            </a:gs>
          </a:gsLst>
          <a:lin ang="16200000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Title 1"/>
          <p:cNvSpPr txBox="1"/>
          <p:nvPr>
            <p:ph type="title"/>
          </p:nvPr>
        </p:nvSpPr>
        <p:spPr>
          <a:xfrm>
            <a:off x="457200" y="205978"/>
            <a:ext cx="8229600" cy="857251"/>
          </a:xfrm>
          <a:prstGeom prst="rect">
            <a:avLst/>
          </a:prstGeom>
          <a:gradFill>
            <a:gsLst>
              <a:gs pos="0">
                <a:schemeClr val="accent4">
                  <a:hueOff val="-206663"/>
                  <a:satOff val="29896"/>
                  <a:lumOff val="29240"/>
                </a:schemeClr>
              </a:gs>
              <a:gs pos="35000">
                <a:srgbClr val="D8C9EE"/>
              </a:gs>
              <a:gs pos="100000">
                <a:schemeClr val="accent4">
                  <a:hueOff val="-242556"/>
                  <a:satOff val="32941"/>
                  <a:lumOff val="43328"/>
                </a:schemeClr>
              </a:gs>
            </a:gsLst>
            <a:lin ang="16200000"/>
          </a:gradFill>
          <a:ln w="9525">
            <a:solidFill>
              <a:srgbClr val="7D60A0"/>
            </a:solidFill>
            <a:round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76200" tIns="76200" rIns="76200" bIns="76200"/>
          <a:lstStyle>
            <a:lvl1pPr algn="l" defTabSz="457200">
              <a:defRPr sz="3500">
                <a:latin typeface="Savoye LET Plain:1.0"/>
                <a:ea typeface="Savoye LET Plain:1.0"/>
                <a:cs typeface="Savoye LET Plain:1.0"/>
                <a:sym typeface="Savoye LET Plain:1.0"/>
              </a:defRPr>
            </a:lvl1pPr>
          </a:lstStyle>
          <a:p>
            <a:pPr/>
            <a:r>
              <a:t>Career Overview</a:t>
            </a:r>
          </a:p>
        </p:txBody>
      </p:sp>
      <p:sp>
        <p:nvSpPr>
          <p:cNvPr id="97" name="Content Placeholder 2"/>
          <p:cNvSpPr txBox="1"/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  <a:gradFill>
            <a:gsLst>
              <a:gs pos="0">
                <a:schemeClr val="accent4">
                  <a:hueOff val="-206663"/>
                  <a:satOff val="29896"/>
                  <a:lumOff val="29240"/>
                </a:schemeClr>
              </a:gs>
              <a:gs pos="35000">
                <a:srgbClr val="D8C9EE"/>
              </a:gs>
              <a:gs pos="100000">
                <a:schemeClr val="accent4">
                  <a:hueOff val="-242556"/>
                  <a:satOff val="32941"/>
                  <a:lumOff val="43328"/>
                </a:schemeClr>
              </a:gs>
            </a:gsLst>
            <a:lin ang="16200000"/>
          </a:gradFill>
          <a:ln w="9525">
            <a:solidFill>
              <a:srgbClr val="7D60A0"/>
            </a:solidFill>
            <a:round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/>
          <a:lstStyle/>
          <a:p>
            <a:pPr marL="0" indent="0" defTabSz="457200">
              <a:spcBef>
                <a:spcPts val="0"/>
              </a:spcBef>
              <a:buSzTx/>
              <a:buNone/>
              <a:defRPr sz="2800">
                <a:latin typeface="Savoye LET Plain:1.0"/>
                <a:ea typeface="Savoye LET Plain:1.0"/>
                <a:cs typeface="Savoye LET Plain:1.0"/>
                <a:sym typeface="Savoye LET Plain:1.0"/>
              </a:defRPr>
            </a:pPr>
            <a:r>
              <a:t>What Is a Therapist?</a:t>
            </a:r>
          </a:p>
          <a:p>
            <a:pPr marL="0" indent="0" defTabSz="457200">
              <a:spcBef>
                <a:spcPts val="0"/>
              </a:spcBef>
              <a:buSzTx/>
              <a:buNone/>
              <a:defRPr sz="2800">
                <a:latin typeface="Savoye LET Plain:1.0"/>
                <a:ea typeface="Savoye LET Plain:1.0"/>
                <a:cs typeface="Savoye LET Plain:1.0"/>
                <a:sym typeface="Savoye LET Plain:1.0"/>
              </a:defRPr>
            </a:pPr>
            <a:r>
              <a:t>-A Licensed mental health professional who helps individuals manage emotions, behavior, and relationships </a:t>
            </a:r>
          </a:p>
          <a:p>
            <a:pPr marL="0" indent="0" defTabSz="457200">
              <a:spcBef>
                <a:spcPts val="0"/>
              </a:spcBef>
              <a:buSzTx/>
              <a:buNone/>
              <a:defRPr sz="2800">
                <a:latin typeface="Savoye LET Plain:1.0"/>
                <a:ea typeface="Savoye LET Plain:1.0"/>
                <a:cs typeface="Savoye LET Plain:1.0"/>
                <a:sym typeface="Savoye LET Plain:1.0"/>
              </a:defRPr>
            </a:pPr>
            <a:r>
              <a:t>-Includes providing counseling and treatment plans </a:t>
            </a:r>
          </a:p>
          <a:p>
            <a:pPr marL="0" indent="0" defTabSz="457200">
              <a:spcBef>
                <a:spcPts val="0"/>
              </a:spcBef>
              <a:buSzTx/>
              <a:buNone/>
              <a:defRPr sz="2800">
                <a:latin typeface="Savoye LET Plain:1.0"/>
                <a:ea typeface="Savoye LET Plain:1.0"/>
                <a:cs typeface="Savoye LET Plain:1.0"/>
                <a:sym typeface="Savoye LET Plain:1.0"/>
              </a:defRPr>
            </a:pPr>
            <a:r>
              <a:t>-Works in private practice, schools, hospitals, or clinics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itle 1"/>
          <p:cNvSpPr txBox="1"/>
          <p:nvPr>
            <p:ph type="title"/>
          </p:nvPr>
        </p:nvSpPr>
        <p:spPr>
          <a:xfrm>
            <a:off x="457200" y="205978"/>
            <a:ext cx="8229600" cy="857251"/>
          </a:xfrm>
          <a:prstGeom prst="rect">
            <a:avLst/>
          </a:prstGeom>
        </p:spPr>
        <p:txBody>
          <a:bodyPr/>
          <a:lstStyle/>
          <a:p>
            <a:pPr/>
            <a:r>
              <a:t> </a:t>
            </a:r>
            <a:r>
              <a:rPr sz="4700">
                <a:latin typeface="Savoye LET Plain:1.0"/>
                <a:ea typeface="Savoye LET Plain:1.0"/>
                <a:cs typeface="Savoye LET Plain:1.0"/>
                <a:sym typeface="Savoye LET Plain:1.0"/>
              </a:rPr>
              <a:t>Education &amp; Skills Required</a:t>
            </a:r>
          </a:p>
        </p:txBody>
      </p:sp>
      <p:sp>
        <p:nvSpPr>
          <p:cNvPr id="100" name="Content Placeholder 2"/>
          <p:cNvSpPr txBox="1"/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 sz="3400">
                <a:latin typeface="Savoye LET Plain:1.0"/>
                <a:ea typeface="Savoye LET Plain:1.0"/>
                <a:cs typeface="Savoye LET Plain:1.0"/>
                <a:sym typeface="Savoye LET Plain:1.0"/>
              </a:defRPr>
            </a:pPr>
            <a:r>
              <a:t>Education: Bachelor’s degree (Psychology or related field) Master’s degree in counseling, social work, or psychology State licensure + supervised clinical hours </a:t>
            </a:r>
          </a:p>
          <a:p>
            <a:pPr marL="0" indent="0">
              <a:buSzTx/>
              <a:buNone/>
              <a:defRPr sz="3400">
                <a:latin typeface="Savoye LET Plain:1.0"/>
                <a:ea typeface="Savoye LET Plain:1.0"/>
                <a:cs typeface="Savoye LET Plain:1.0"/>
                <a:sym typeface="Savoye LET Plain:1.0"/>
              </a:defRPr>
            </a:pPr>
            <a:r>
              <a:t>Key Skills: Empathy, Active listening, Communication, Critical thinking, Confidentiality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gradFill flip="none" rotWithShape="1">
          <a:gsLst>
            <a:gs pos="0">
              <a:srgbClr val="58DCFA"/>
            </a:gs>
            <a:gs pos="100000">
              <a:schemeClr val="accent1">
                <a:hueOff val="418253"/>
                <a:satOff val="54545"/>
                <a:lumOff val="42493"/>
              </a:schemeClr>
            </a:gs>
          </a:gsLst>
          <a:lin ang="16200000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itle 1"/>
          <p:cNvSpPr txBox="1"/>
          <p:nvPr>
            <p:ph type="title"/>
          </p:nvPr>
        </p:nvSpPr>
        <p:spPr>
          <a:xfrm>
            <a:off x="457200" y="205978"/>
            <a:ext cx="8229600" cy="857251"/>
          </a:xfrm>
          <a:prstGeom prst="rect">
            <a:avLst/>
          </a:prstGeom>
        </p:spPr>
        <p:txBody>
          <a:bodyPr/>
          <a:lstStyle>
            <a:lvl1pPr>
              <a:defRPr sz="4100">
                <a:latin typeface="Savoye LET Plain:1.0"/>
                <a:ea typeface="Savoye LET Plain:1.0"/>
                <a:cs typeface="Savoye LET Plain:1.0"/>
                <a:sym typeface="Savoye LET Plain:1.0"/>
              </a:defRPr>
            </a:lvl1pPr>
          </a:lstStyle>
          <a:p>
            <a:pPr/>
            <a:r>
              <a:t>AI Disruption in Therapy</a:t>
            </a:r>
          </a:p>
        </p:txBody>
      </p:sp>
      <p:sp>
        <p:nvSpPr>
          <p:cNvPr id="103" name="Content Placeholder 2"/>
          <p:cNvSpPr txBox="1"/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 sz="3200">
                <a:latin typeface="Savoye LET Plain:1.0"/>
                <a:ea typeface="Savoye LET Plain:1.0"/>
                <a:cs typeface="Savoye LET Plain:1.0"/>
                <a:sym typeface="Savoye LET Plain:1.0"/>
              </a:defRPr>
            </a:pPr>
            <a:r>
              <a:t>AI chatbots providing 24/7 mental health support </a:t>
            </a:r>
          </a:p>
          <a:p>
            <a:pPr marL="0" indent="0">
              <a:buSzTx/>
              <a:buNone/>
              <a:defRPr sz="3200">
                <a:latin typeface="Savoye LET Plain:1.0"/>
                <a:ea typeface="Savoye LET Plain:1.0"/>
                <a:cs typeface="Savoye LET Plain:1.0"/>
                <a:sym typeface="Savoye LET Plain:1.0"/>
              </a:defRPr>
            </a:pPr>
            <a:r>
              <a:t>Automated mood-tracking apps </a:t>
            </a:r>
          </a:p>
          <a:p>
            <a:pPr marL="0" indent="0">
              <a:buSzTx/>
              <a:buNone/>
              <a:defRPr sz="3200">
                <a:latin typeface="Savoye LET Plain:1.0"/>
                <a:ea typeface="Savoye LET Plain:1.0"/>
                <a:cs typeface="Savoye LET Plain:1.0"/>
                <a:sym typeface="Savoye LET Plain:1.0"/>
              </a:defRPr>
            </a:pPr>
            <a:r>
              <a:t>AI-assisted diagnostic tools </a:t>
            </a:r>
          </a:p>
          <a:p>
            <a:pPr marL="0" indent="0">
              <a:buSzTx/>
              <a:buNone/>
              <a:defRPr sz="3200">
                <a:latin typeface="Savoye LET Plain:1.0"/>
                <a:ea typeface="Savoye LET Plain:1.0"/>
                <a:cs typeface="Savoye LET Plain:1.0"/>
                <a:sym typeface="Savoye LET Plain:1.0"/>
              </a:defRPr>
            </a:pPr>
            <a:r>
              <a:t>Growth of Telehealth and virtual therapy Impact: Technology is changing how therapy is delivered.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gradFill flip="none" rotWithShape="1">
          <a:gsLst>
            <a:gs pos="0">
              <a:srgbClr val="9038FA"/>
            </a:gs>
            <a:gs pos="100000">
              <a:schemeClr val="accent1">
                <a:hueOff val="418253"/>
                <a:satOff val="54545"/>
                <a:lumOff val="42493"/>
              </a:schemeClr>
            </a:gs>
          </a:gsLst>
          <a:lin ang="16200000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Title 1"/>
          <p:cNvSpPr txBox="1"/>
          <p:nvPr>
            <p:ph type="title"/>
          </p:nvPr>
        </p:nvSpPr>
        <p:spPr>
          <a:xfrm>
            <a:off x="457200" y="205978"/>
            <a:ext cx="8229600" cy="857251"/>
          </a:xfrm>
          <a:prstGeom prst="rect">
            <a:avLst/>
          </a:prstGeom>
        </p:spPr>
        <p:txBody>
          <a:bodyPr/>
          <a:lstStyle>
            <a:lvl1pPr>
              <a:defRPr sz="4600">
                <a:latin typeface="Savoye LET Plain:1.0"/>
                <a:ea typeface="Savoye LET Plain:1.0"/>
                <a:cs typeface="Savoye LET Plain:1.0"/>
                <a:sym typeface="Savoye LET Plain:1.0"/>
              </a:defRPr>
            </a:lvl1pPr>
          </a:lstStyle>
          <a:p>
            <a:pPr/>
            <a:r>
              <a:t>Risks of AI in This Career</a:t>
            </a:r>
          </a:p>
        </p:txBody>
      </p:sp>
      <p:sp>
        <p:nvSpPr>
          <p:cNvPr id="106" name="Content Placeholder 2"/>
          <p:cNvSpPr txBox="1"/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</a:pPr>
            <a:r>
              <a:t>-</a:t>
            </a:r>
            <a:r>
              <a:rPr sz="3400">
                <a:latin typeface="Savoye LET Plain:1.0"/>
                <a:ea typeface="Savoye LET Plain:1.0"/>
                <a:cs typeface="Savoye LET Plain:1.0"/>
                <a:sym typeface="Savoye LET Plain:1.0"/>
              </a:rPr>
              <a:t>Privacy and data security concerns </a:t>
            </a:r>
            <a:endParaRPr sz="3400">
              <a:latin typeface="Savoye LET Plain:1.0"/>
              <a:ea typeface="Savoye LET Plain:1.0"/>
              <a:cs typeface="Savoye LET Plain:1.0"/>
              <a:sym typeface="Savoye LET Plain:1.0"/>
            </a:endParaRPr>
          </a:p>
          <a:p>
            <a:pPr marL="0" indent="0">
              <a:buSzTx/>
              <a:buNone/>
              <a:defRPr sz="3400">
                <a:latin typeface="Savoye LET Plain:1.0"/>
                <a:ea typeface="Savoye LET Plain:1.0"/>
                <a:cs typeface="Savoye LET Plain:1.0"/>
                <a:sym typeface="Savoye LET Plain:1.0"/>
              </a:defRPr>
            </a:pPr>
            <a:r>
              <a:t>-Risk of over-reliance on technology </a:t>
            </a:r>
          </a:p>
          <a:p>
            <a:pPr marL="0" indent="0">
              <a:buSzTx/>
              <a:buNone/>
              <a:defRPr sz="3400">
                <a:latin typeface="Savoye LET Plain:1.0"/>
                <a:ea typeface="Savoye LET Plain:1.0"/>
                <a:cs typeface="Savoye LET Plain:1.0"/>
                <a:sym typeface="Savoye LET Plain:1.0"/>
              </a:defRPr>
            </a:pPr>
            <a:r>
              <a:t>-AI lacks true empathy and human connection </a:t>
            </a:r>
          </a:p>
          <a:p>
            <a:pPr marL="0" indent="0">
              <a:buSzTx/>
              <a:buNone/>
              <a:defRPr sz="3400">
                <a:latin typeface="Savoye LET Plain:1.0"/>
                <a:ea typeface="Savoye LET Plain:1.0"/>
                <a:cs typeface="Savoye LET Plain:1.0"/>
                <a:sym typeface="Savoye LET Plain:1.0"/>
              </a:defRPr>
            </a:pPr>
            <a:r>
              <a:t>-Potential bias in algorithms </a:t>
            </a:r>
          </a:p>
          <a:p>
            <a:pPr marL="0" indent="0">
              <a:buSzTx/>
              <a:buNone/>
              <a:defRPr sz="3400">
                <a:latin typeface="Savoye LET Plain:1.0"/>
                <a:ea typeface="Savoye LET Plain:1.0"/>
                <a:cs typeface="Savoye LET Plain:1.0"/>
                <a:sym typeface="Savoye LET Plain:1.0"/>
              </a:defRPr>
            </a:pPr>
            <a:r>
              <a:t>-Therapists must use AI ethically and responsibly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gradFill flip="none" rotWithShape="1">
          <a:gsLst>
            <a:gs pos="0">
              <a:srgbClr val="FA82CF"/>
            </a:gs>
            <a:gs pos="100000">
              <a:schemeClr val="accent1">
                <a:hueOff val="418253"/>
                <a:satOff val="54545"/>
                <a:lumOff val="42493"/>
              </a:schemeClr>
            </a:gs>
          </a:gsLst>
          <a:lin ang="16200000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itle 1"/>
          <p:cNvSpPr txBox="1"/>
          <p:nvPr>
            <p:ph type="title"/>
          </p:nvPr>
        </p:nvSpPr>
        <p:spPr>
          <a:xfrm>
            <a:off x="457200" y="205978"/>
            <a:ext cx="8229600" cy="857251"/>
          </a:xfrm>
          <a:prstGeom prst="rect">
            <a:avLst/>
          </a:prstGeom>
        </p:spPr>
        <p:txBody>
          <a:bodyPr/>
          <a:lstStyle>
            <a:lvl1pPr>
              <a:defRPr sz="4200">
                <a:latin typeface="Savoye LET Plain:1.0"/>
                <a:ea typeface="Savoye LET Plain:1.0"/>
                <a:cs typeface="Savoye LET Plain:1.0"/>
                <a:sym typeface="Savoye LET Plain:1.0"/>
              </a:defRPr>
            </a:lvl1pPr>
          </a:lstStyle>
          <a:p>
            <a:pPr/>
            <a:r>
              <a:t>Benefits of AI for Therapists</a:t>
            </a:r>
          </a:p>
        </p:txBody>
      </p:sp>
      <p:sp>
        <p:nvSpPr>
          <p:cNvPr id="109" name="Content Placeholder 2"/>
          <p:cNvSpPr txBox="1"/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 sz="3000">
                <a:latin typeface="Savoye LET Plain:1.0"/>
                <a:ea typeface="Savoye LET Plain:1.0"/>
                <a:cs typeface="Savoye LET Plain:1.0"/>
                <a:sym typeface="Savoye LET Plain:1.0"/>
              </a:defRPr>
            </a:pPr>
            <a:r>
              <a:t>Reduces paperwork and administrative tasks </a:t>
            </a:r>
          </a:p>
          <a:p>
            <a:pPr marL="0" indent="0">
              <a:buSzTx/>
              <a:buNone/>
              <a:defRPr sz="3000">
                <a:latin typeface="Savoye LET Plain:1.0"/>
                <a:ea typeface="Savoye LET Plain:1.0"/>
                <a:cs typeface="Savoye LET Plain:1.0"/>
                <a:sym typeface="Savoye LET Plain:1.0"/>
              </a:defRPr>
            </a:pPr>
            <a:r>
              <a:t>Helps track client progress </a:t>
            </a:r>
          </a:p>
          <a:p>
            <a:pPr marL="0" indent="0">
              <a:buSzTx/>
              <a:buNone/>
              <a:defRPr sz="3000">
                <a:latin typeface="Savoye LET Plain:1.0"/>
                <a:ea typeface="Savoye LET Plain:1.0"/>
                <a:cs typeface="Savoye LET Plain:1.0"/>
                <a:sym typeface="Savoye LET Plain:1.0"/>
              </a:defRPr>
            </a:pPr>
            <a:r>
              <a:t>Supports clients between sessions </a:t>
            </a:r>
          </a:p>
          <a:p>
            <a:pPr marL="0" indent="0">
              <a:buSzTx/>
              <a:buNone/>
              <a:defRPr sz="3000">
                <a:latin typeface="Savoye LET Plain:1.0"/>
                <a:ea typeface="Savoye LET Plain:1.0"/>
                <a:cs typeface="Savoye LET Plain:1.0"/>
                <a:sym typeface="Savoye LET Plain:1.0"/>
              </a:defRPr>
            </a:pPr>
            <a:r>
              <a:t>Expands access to care </a:t>
            </a:r>
          </a:p>
          <a:p>
            <a:pPr marL="0" indent="0">
              <a:buSzTx/>
              <a:buNone/>
              <a:defRPr sz="3000">
                <a:latin typeface="Savoye LET Plain:1.0"/>
                <a:ea typeface="Savoye LET Plain:1.0"/>
                <a:cs typeface="Savoye LET Plain:1.0"/>
                <a:sym typeface="Savoye LET Plain:1.0"/>
              </a:defRPr>
            </a:pPr>
            <a:r>
              <a:t>Reduces burnout, AI acts as a support tool — not a replacement.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gradFill flip="none" rotWithShape="1">
          <a:gsLst>
            <a:gs pos="0">
              <a:srgbClr val="FABC5A"/>
            </a:gs>
            <a:gs pos="100000">
              <a:schemeClr val="accent1">
                <a:hueOff val="418253"/>
                <a:satOff val="54545"/>
                <a:lumOff val="42493"/>
              </a:schemeClr>
            </a:gs>
          </a:gsLst>
          <a:lin ang="16200000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itle 1"/>
          <p:cNvSpPr txBox="1"/>
          <p:nvPr>
            <p:ph type="title"/>
          </p:nvPr>
        </p:nvSpPr>
        <p:spPr>
          <a:xfrm>
            <a:off x="457200" y="205978"/>
            <a:ext cx="8229600" cy="857251"/>
          </a:xfrm>
          <a:prstGeom prst="rect">
            <a:avLst/>
          </a:prstGeom>
        </p:spPr>
        <p:txBody>
          <a:bodyPr/>
          <a:lstStyle>
            <a:lvl1pPr>
              <a:defRPr sz="4700">
                <a:latin typeface="Savoye LET Plain:1.0"/>
                <a:ea typeface="Savoye LET Plain:1.0"/>
                <a:cs typeface="Savoye LET Plain:1.0"/>
                <a:sym typeface="Savoye LET Plain:1.0"/>
              </a:defRPr>
            </a:lvl1pPr>
          </a:lstStyle>
          <a:p>
            <a:pPr/>
            <a:r>
              <a:t>How to Gain an Advantage Using AI</a:t>
            </a:r>
          </a:p>
        </p:txBody>
      </p:sp>
      <p:sp>
        <p:nvSpPr>
          <p:cNvPr id="112" name="Content Placeholder 2"/>
          <p:cNvSpPr txBox="1"/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 sz="3300">
                <a:latin typeface="Savoye LET Plain:1.0"/>
                <a:ea typeface="Savoye LET Plain:1.0"/>
                <a:cs typeface="Savoye LET Plain:1.0"/>
                <a:sym typeface="Savoye LET Plain:1.0"/>
              </a:defRPr>
            </a:pPr>
            <a:r>
              <a:t>Practice mock therapy sessions with AI </a:t>
            </a:r>
          </a:p>
          <a:p>
            <a:pPr marL="0" indent="0">
              <a:buSzTx/>
              <a:buNone/>
              <a:defRPr sz="3300">
                <a:latin typeface="Savoye LET Plain:1.0"/>
                <a:ea typeface="Savoye LET Plain:1.0"/>
                <a:cs typeface="Savoye LET Plain:1.0"/>
                <a:sym typeface="Savoye LET Plain:1.0"/>
              </a:defRPr>
            </a:pPr>
            <a:r>
              <a:t>Use AI to summarize research articles </a:t>
            </a:r>
          </a:p>
          <a:p>
            <a:pPr marL="0" indent="0">
              <a:buSzTx/>
              <a:buNone/>
              <a:defRPr sz="3300">
                <a:latin typeface="Savoye LET Plain:1.0"/>
                <a:ea typeface="Savoye LET Plain:1.0"/>
                <a:cs typeface="Savoye LET Plain:1.0"/>
                <a:sym typeface="Savoye LET Plain:1.0"/>
              </a:defRPr>
            </a:pPr>
            <a:r>
              <a:t>Learn about digital mental health tools </a:t>
            </a:r>
          </a:p>
          <a:p>
            <a:pPr marL="0" indent="0">
              <a:buSzTx/>
              <a:buNone/>
              <a:defRPr sz="3300">
                <a:latin typeface="Savoye LET Plain:1.0"/>
                <a:ea typeface="Savoye LET Plain:1.0"/>
                <a:cs typeface="Savoye LET Plain:1.0"/>
                <a:sym typeface="Savoye LET Plain:1.0"/>
              </a:defRPr>
            </a:pPr>
            <a:r>
              <a:t>Build strong tech literacy + ethical awareness </a:t>
            </a:r>
          </a:p>
          <a:p>
            <a:pPr marL="0" indent="0">
              <a:buSzTx/>
              <a:buNone/>
              <a:defRPr sz="3300">
                <a:latin typeface="Savoye LET Plain:1.0"/>
                <a:ea typeface="Savoye LET Plain:1.0"/>
                <a:cs typeface="Savoye LET Plain:1.0"/>
                <a:sym typeface="Savoye LET Plain:1.0"/>
              </a:defRPr>
            </a:pPr>
            <a:r>
              <a:t>Future therapists who understand AI will stand out.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gradFill flip="none" rotWithShape="1">
          <a:gsLst>
            <a:gs pos="0">
              <a:srgbClr val="AEFA92"/>
            </a:gs>
            <a:gs pos="100000">
              <a:schemeClr val="accent1">
                <a:hueOff val="418253"/>
                <a:satOff val="54545"/>
                <a:lumOff val="42493"/>
              </a:schemeClr>
            </a:gs>
          </a:gsLst>
          <a:lin ang="16200000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Title 1"/>
          <p:cNvSpPr txBox="1"/>
          <p:nvPr>
            <p:ph type="title"/>
          </p:nvPr>
        </p:nvSpPr>
        <p:spPr>
          <a:xfrm>
            <a:off x="457200" y="205978"/>
            <a:ext cx="8229600" cy="857251"/>
          </a:xfrm>
          <a:prstGeom prst="rect">
            <a:avLst/>
          </a:prstGeom>
        </p:spPr>
        <p:txBody>
          <a:bodyPr/>
          <a:lstStyle>
            <a:lvl1pPr>
              <a:defRPr sz="4500">
                <a:latin typeface="Savoye LET Plain:1.0"/>
                <a:ea typeface="Savoye LET Plain:1.0"/>
                <a:cs typeface="Savoye LET Plain:1.0"/>
                <a:sym typeface="Savoye LET Plain:1.0"/>
              </a:defRPr>
            </a:lvl1pPr>
          </a:lstStyle>
          <a:p>
            <a:pPr/>
            <a:r>
              <a:t>My Action Plan</a:t>
            </a:r>
          </a:p>
        </p:txBody>
      </p:sp>
      <p:sp>
        <p:nvSpPr>
          <p:cNvPr id="115" name="Content Placeholder 2"/>
          <p:cNvSpPr txBox="1"/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 sz="3400">
                <a:latin typeface="Savoye LET Plain:1.0"/>
                <a:ea typeface="Savoye LET Plain:1.0"/>
                <a:cs typeface="Savoye LET Plain:1.0"/>
                <a:sym typeface="Savoye LET Plain:1.0"/>
              </a:defRPr>
            </a:pPr>
            <a:r>
              <a:t>Take a psychology or counseling course this year </a:t>
            </a:r>
          </a:p>
          <a:p>
            <a:pPr marL="0" indent="0">
              <a:buSzTx/>
              <a:buNone/>
              <a:defRPr sz="3400">
                <a:latin typeface="Savoye LET Plain:1.0"/>
                <a:ea typeface="Savoye LET Plain:1.0"/>
                <a:cs typeface="Savoye LET Plain:1.0"/>
                <a:sym typeface="Savoye LET Plain:1.0"/>
              </a:defRPr>
            </a:pPr>
            <a:r>
              <a:t>Practice weekly AI-based case simulations </a:t>
            </a:r>
          </a:p>
          <a:p>
            <a:pPr marL="0" indent="0">
              <a:buSzTx/>
              <a:buNone/>
              <a:defRPr sz="3400">
                <a:latin typeface="Savoye LET Plain:1.0"/>
                <a:ea typeface="Savoye LET Plain:1.0"/>
                <a:cs typeface="Savoye LET Plain:1.0"/>
                <a:sym typeface="Savoye LET Plain:1.0"/>
              </a:defRPr>
            </a:pPr>
            <a:r>
              <a:t>Research digital mental health platforms and ethics </a:t>
            </a:r>
          </a:p>
          <a:p>
            <a:pPr marL="0" indent="0">
              <a:buSzTx/>
              <a:buNone/>
              <a:defRPr sz="3400">
                <a:latin typeface="Savoye LET Plain:1.0"/>
                <a:ea typeface="Savoye LET Plain:1.0"/>
                <a:cs typeface="Savoye LET Plain:1.0"/>
                <a:sym typeface="Savoye LET Plain:1.0"/>
              </a:defRPr>
            </a:pPr>
            <a:r>
              <a:t>Gain experience in peer counseling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gradFill flip="none" rotWithShape="1">
          <a:gsLst>
            <a:gs pos="0">
              <a:srgbClr val="DBA4FA"/>
            </a:gs>
            <a:gs pos="100000">
              <a:schemeClr val="accent1">
                <a:hueOff val="418253"/>
                <a:satOff val="54545"/>
                <a:lumOff val="42493"/>
              </a:schemeClr>
            </a:gs>
          </a:gsLst>
          <a:lin ang="16200000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Title 1"/>
          <p:cNvSpPr txBox="1"/>
          <p:nvPr>
            <p:ph type="title"/>
          </p:nvPr>
        </p:nvSpPr>
        <p:spPr>
          <a:xfrm>
            <a:off x="457200" y="205978"/>
            <a:ext cx="8229600" cy="857251"/>
          </a:xfrm>
          <a:prstGeom prst="rect">
            <a:avLst/>
          </a:prstGeom>
        </p:spPr>
        <p:txBody>
          <a:bodyPr/>
          <a:lstStyle>
            <a:lvl1pPr>
              <a:defRPr sz="4500">
                <a:latin typeface="Savoye LET Plain:1.0"/>
                <a:ea typeface="Savoye LET Plain:1.0"/>
                <a:cs typeface="Savoye LET Plain:1.0"/>
                <a:sym typeface="Savoye LET Plain:1.0"/>
              </a:defRPr>
            </a:lvl1pPr>
          </a:lstStyle>
          <a:p>
            <a:pPr/>
            <a:r>
              <a:t>Main Takeaway</a:t>
            </a:r>
          </a:p>
        </p:txBody>
      </p:sp>
      <p:sp>
        <p:nvSpPr>
          <p:cNvPr id="118" name="Content Placeholder 2"/>
          <p:cNvSpPr txBox="1"/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 sz="3400">
                <a:latin typeface="Savoye LET Plain:1.0"/>
                <a:ea typeface="Savoye LET Plain:1.0"/>
                <a:cs typeface="Savoye LET Plain:1.0"/>
                <a:sym typeface="Savoye LET Plain:1.0"/>
              </a:defRPr>
            </a:pPr>
            <a:r>
              <a:t>AI will not replace therapists. </a:t>
            </a:r>
          </a:p>
          <a:p>
            <a:pPr marL="0" indent="0">
              <a:buSzTx/>
              <a:buNone/>
              <a:defRPr sz="3400">
                <a:latin typeface="Savoye LET Plain:1.0"/>
                <a:ea typeface="Savoye LET Plain:1.0"/>
                <a:cs typeface="Savoye LET Plain:1.0"/>
                <a:sym typeface="Savoye LET Plain:1.0"/>
              </a:defRPr>
            </a:pPr>
            <a:r>
              <a:t>Human empathy and connection remain essential. </a:t>
            </a:r>
          </a:p>
          <a:p>
            <a:pPr marL="0" indent="0">
              <a:buSzTx/>
              <a:buNone/>
              <a:defRPr sz="3400">
                <a:latin typeface="Savoye LET Plain:1.0"/>
                <a:ea typeface="Savoye LET Plain:1.0"/>
                <a:cs typeface="Savoye LET Plain:1.0"/>
                <a:sym typeface="Savoye LET Plain:1.0"/>
              </a:defRPr>
            </a:pPr>
            <a:r>
              <a:t>However, therapists who learn to use AI responsibly will have a strong advantage in the future.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